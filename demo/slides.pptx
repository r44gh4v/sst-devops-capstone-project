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377440"/>
            <a:ext cx="10058400" cy="109728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5400" b="1">
                <a:solidFill>
                  <a:srgbClr val="1F2933"/>
                </a:solidFill>
                <a:latin typeface="Segoe UI"/>
              </a:rPr>
              <a:t>Expense Tracker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429000"/>
            <a:ext cx="10058400" cy="5486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0">
                <a:solidFill>
                  <a:srgbClr val="2563EB"/>
                </a:solidFill>
                <a:latin typeface="Segoe UI"/>
              </a:rPr>
              <a:t>DevOps Capstone Project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206240"/>
            <a:ext cx="10058400" cy="9144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3E4C59"/>
                </a:solidFill>
                <a:latin typeface="Segoe UI"/>
              </a:rPr>
              <a:t>Raaghav Rathi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3E4C59"/>
                </a:solidFill>
                <a:latin typeface="Segoe UI"/>
              </a:rPr>
              <a:t>24bcs10284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777240"/>
            <a:ext cx="1051560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1F2933"/>
                </a:solidFill>
                <a:latin typeface="Segoe UI"/>
              </a:rPr>
              <a:t>What I Built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737360"/>
            <a:ext cx="5486400" cy="32004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3E4C59"/>
                </a:solidFill>
                <a:latin typeface="Segoe UI"/>
              </a:rPr>
              <a:t>A simple web app to track daily spending.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3E4C59"/>
                </a:solidFill>
                <a:latin typeface="Segoe UI"/>
              </a:rPr>
              <a:t>Add, edit and delete expenses with a title, amount, category and date.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3E4C59"/>
                </a:solidFill>
                <a:latin typeface="Segoe UI"/>
              </a:rPr>
              <a:t>See the total spent and a breakdown per category.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3E4C59"/>
                </a:solidFill>
                <a:latin typeface="Segoe UI"/>
              </a:rPr>
              <a:t>The app is small on purpose. The focus of the project is the DevOps workflow around it: testing, containers, CI/CD, security scanning, infrastructure as code, Kubernetes, GitOps and monitoring.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766560" y="1737360"/>
            <a:ext cx="4663440" cy="2926080"/>
          </a:xfrm>
          <a:prstGeom prst="roundRect">
            <a:avLst>
              <a:gd name="adj" fmla="val 8000"/>
            </a:avLst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995160" y="1920240"/>
            <a:ext cx="4206240" cy="4572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2563EB"/>
                </a:solidFill>
                <a:latin typeface="Segoe UI"/>
              </a:rPr>
              <a:t>Three tiers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95160" y="2377439"/>
            <a:ext cx="4206240" cy="21945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3E4C59"/>
                </a:solidFill>
                <a:latin typeface="Segoe UI"/>
              </a:rPr>
              <a:t>Frontend: React app served by nginx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3E4C59"/>
                </a:solidFill>
                <a:latin typeface="Segoe UI"/>
              </a:rPr>
              <a:t>Backend: FastAPI REST API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3E4C59"/>
                </a:solidFill>
                <a:latin typeface="Segoe UI"/>
              </a:rPr>
              <a:t>Database: PostgreSQL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3E4C59"/>
                </a:solidFill>
                <a:latin typeface="Segoe UI"/>
              </a:rPr>
              <a:t/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3E4C59"/>
                </a:solidFill>
                <a:latin typeface="Segoe UI"/>
              </a:rPr>
              <a:t>Endpoints: /health, /ready, /metrics, CRUD on /api/expenses, /api/expenses/summary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777240"/>
            <a:ext cx="1051560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1F2933"/>
                </a:solidFill>
                <a:latin typeface="Segoe UI"/>
              </a:rPr>
              <a:t>Tech Stack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737360"/>
            <a:ext cx="3383280" cy="2011680"/>
          </a:xfrm>
          <a:prstGeom prst="roundRect">
            <a:avLst>
              <a:gd name="adj" fmla="val 8000"/>
            </a:avLst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1920240"/>
            <a:ext cx="2926080" cy="4572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2563EB"/>
                </a:solidFill>
                <a:latin typeface="Segoe UI"/>
              </a:rPr>
              <a:t>Application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2377439"/>
            <a:ext cx="2926080" cy="12801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E4C59"/>
                </a:solidFill>
                <a:latin typeface="Segoe UI"/>
              </a:rPr>
              <a:t>Python, FastAPI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3E4C59"/>
                </a:solidFill>
                <a:latin typeface="Segoe UI"/>
              </a:rPr>
              <a:t>SQLAlchemy, Alembic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3E4C59"/>
                </a:solidFill>
                <a:latin typeface="Segoe UI"/>
              </a:rPr>
              <a:t>React, Vite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3E4C59"/>
                </a:solidFill>
                <a:latin typeface="Segoe UI"/>
              </a:rPr>
              <a:t>PostgreSQL 16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1737360"/>
            <a:ext cx="3383280" cy="2011680"/>
          </a:xfrm>
          <a:prstGeom prst="roundRect">
            <a:avLst>
              <a:gd name="adj" fmla="val 8000"/>
            </a:avLst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617720" y="1920240"/>
            <a:ext cx="2926080" cy="4572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2563EB"/>
                </a:solidFill>
                <a:latin typeface="Segoe UI"/>
              </a:rPr>
              <a:t>Containers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17720" y="2377439"/>
            <a:ext cx="2926080" cy="12801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E4C59"/>
                </a:solidFill>
                <a:latin typeface="Segoe UI"/>
              </a:rPr>
              <a:t>Docker (non-root images)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3E4C59"/>
                </a:solidFill>
                <a:latin typeface="Segoe UI"/>
              </a:rPr>
              <a:t>Multi-stage frontend build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3E4C59"/>
                </a:solidFill>
                <a:latin typeface="Segoe UI"/>
              </a:rPr>
              <a:t>Docker Compose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1737360"/>
            <a:ext cx="3383280" cy="2011680"/>
          </a:xfrm>
          <a:prstGeom prst="roundRect">
            <a:avLst>
              <a:gd name="adj" fmla="val 8000"/>
            </a:avLst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75320" y="1920240"/>
            <a:ext cx="2926080" cy="4572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2563EB"/>
                </a:solidFill>
                <a:latin typeface="Segoe UI"/>
              </a:rPr>
              <a:t>CI/CD + Security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75320" y="2377439"/>
            <a:ext cx="2926080" cy="12801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E4C59"/>
                </a:solidFill>
                <a:latin typeface="Segoe UI"/>
              </a:rPr>
              <a:t>GitHub Actions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3E4C59"/>
                </a:solidFill>
                <a:latin typeface="Segoe UI"/>
              </a:rPr>
              <a:t>GitHub Container Registry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3E4C59"/>
                </a:solidFill>
                <a:latin typeface="Segoe UI"/>
              </a:rPr>
              <a:t>Trivy image scanning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931920"/>
            <a:ext cx="3383280" cy="2011680"/>
          </a:xfrm>
          <a:prstGeom prst="roundRect">
            <a:avLst>
              <a:gd name="adj" fmla="val 8000"/>
            </a:avLst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4114800"/>
            <a:ext cx="2926080" cy="4572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2563EB"/>
                </a:solidFill>
                <a:latin typeface="Segoe UI"/>
              </a:rPr>
              <a:t>Infrastructure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4572000"/>
            <a:ext cx="2926080" cy="12801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E4C59"/>
                </a:solidFill>
                <a:latin typeface="Segoe UI"/>
              </a:rPr>
              <a:t>Terraform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3E4C59"/>
                </a:solidFill>
                <a:latin typeface="Segoe UI"/>
              </a:rPr>
              <a:t>AWS VPC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3E4C59"/>
                </a:solidFill>
                <a:latin typeface="Segoe UI"/>
              </a:rPr>
              <a:t>AWS EKS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89120" y="3931920"/>
            <a:ext cx="3383280" cy="2011680"/>
          </a:xfrm>
          <a:prstGeom prst="roundRect">
            <a:avLst>
              <a:gd name="adj" fmla="val 8000"/>
            </a:avLst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17720" y="4114800"/>
            <a:ext cx="2926080" cy="4572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2563EB"/>
                </a:solidFill>
                <a:latin typeface="Segoe UI"/>
              </a:rPr>
              <a:t>Kubernetes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17720" y="4572000"/>
            <a:ext cx="2926080" cy="12801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E4C59"/>
                </a:solidFill>
                <a:latin typeface="Segoe UI"/>
              </a:rPr>
              <a:t>Helm chart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3E4C59"/>
                </a:solidFill>
                <a:latin typeface="Segoe UI"/>
              </a:rPr>
              <a:t>ingress-nginx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3E4C59"/>
                </a:solidFill>
                <a:latin typeface="Segoe UI"/>
              </a:rPr>
              <a:t>Argo CD (GitOps)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46720" y="3931920"/>
            <a:ext cx="3383280" cy="2011680"/>
          </a:xfrm>
          <a:prstGeom prst="roundRect">
            <a:avLst>
              <a:gd name="adj" fmla="val 8000"/>
            </a:avLst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75320" y="4114800"/>
            <a:ext cx="2926080" cy="4572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2563EB"/>
                </a:solidFill>
                <a:latin typeface="Segoe UI"/>
              </a:rPr>
              <a:t>Observability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75320" y="4572000"/>
            <a:ext cx="2926080" cy="12801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E4C59"/>
                </a:solidFill>
                <a:latin typeface="Segoe UI"/>
              </a:rPr>
              <a:t>Prometheus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3E4C59"/>
                </a:solidFill>
                <a:latin typeface="Segoe UI"/>
              </a:rPr>
              <a:t>Grafana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3E4C59"/>
                </a:solidFill>
                <a:latin typeface="Segoe UI"/>
              </a:rPr>
              <a:t>kube-prometheus-stack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777240"/>
            <a:ext cx="1051560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1F2933"/>
                </a:solidFill>
                <a:latin typeface="Segoe UI"/>
              </a:rPr>
              <a:t>Architecture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737360"/>
            <a:ext cx="1828800" cy="1097280"/>
          </a:xfrm>
          <a:prstGeom prst="roundRect">
            <a:avLst>
              <a:gd name="adj" fmla="val 12000"/>
            </a:avLst>
          </a:prstGeom>
          <a:solidFill>
            <a:srgbClr val="E8EF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874519"/>
            <a:ext cx="1645920" cy="41148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>
                <a:solidFill>
                  <a:srgbClr val="1F2933"/>
                </a:solidFill>
                <a:latin typeface="Segoe UI"/>
              </a:rPr>
              <a:t>Developer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286000"/>
            <a:ext cx="1645920" cy="502919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3E4C59"/>
                </a:solidFill>
                <a:latin typeface="Segoe UI"/>
              </a:rPr>
              <a:t>git push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0" y="2057400"/>
            <a:ext cx="365760" cy="4572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2400" b="0">
                <a:solidFill>
                  <a:srgbClr val="7B8794"/>
                </a:solidFill>
                <a:latin typeface="Segoe UI"/>
              </a:rPr>
              <a:t>→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907791" y="1737360"/>
            <a:ext cx="1828800" cy="1097280"/>
          </a:xfrm>
          <a:prstGeom prst="roundRect">
            <a:avLst>
              <a:gd name="adj" fmla="val 12000"/>
            </a:avLst>
          </a:prstGeom>
          <a:solidFill>
            <a:srgbClr val="E8EF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999232" y="1874519"/>
            <a:ext cx="1645920" cy="41148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>
                <a:solidFill>
                  <a:srgbClr val="1F2933"/>
                </a:solidFill>
                <a:latin typeface="Segoe UI"/>
              </a:rPr>
              <a:t>GitHub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99232" y="2286000"/>
            <a:ext cx="1645920" cy="502919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3E4C59"/>
                </a:solidFill>
                <a:latin typeface="Segoe UI"/>
              </a:rPr>
              <a:t>source code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36592" y="2057400"/>
            <a:ext cx="365760" cy="4572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2400" b="0">
                <a:solidFill>
                  <a:srgbClr val="7B8794"/>
                </a:solidFill>
                <a:latin typeface="Segoe UI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84064" y="1737360"/>
            <a:ext cx="1828800" cy="1097280"/>
          </a:xfrm>
          <a:prstGeom prst="roundRect">
            <a:avLst>
              <a:gd name="adj" fmla="val 12000"/>
            </a:avLst>
          </a:prstGeom>
          <a:solidFill>
            <a:srgbClr val="E8EF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175503" y="1874519"/>
            <a:ext cx="1645920" cy="41148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>
                <a:solidFill>
                  <a:srgbClr val="1F2933"/>
                </a:solidFill>
                <a:latin typeface="Segoe UI"/>
              </a:rPr>
              <a:t>GitHub Actions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75503" y="2286000"/>
            <a:ext cx="1645920" cy="502919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3E4C59"/>
                </a:solidFill>
                <a:latin typeface="Segoe UI"/>
              </a:rPr>
              <a:t>test, build, scan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12864" y="2057400"/>
            <a:ext cx="365760" cy="4572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2400" b="0">
                <a:solidFill>
                  <a:srgbClr val="7B8794"/>
                </a:solidFill>
                <a:latin typeface="Segoe UI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260336" y="1737360"/>
            <a:ext cx="1828800" cy="1097280"/>
          </a:xfrm>
          <a:prstGeom prst="roundRect">
            <a:avLst>
              <a:gd name="adj" fmla="val 12000"/>
            </a:avLst>
          </a:prstGeom>
          <a:solidFill>
            <a:srgbClr val="E8EF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1775" y="1874519"/>
            <a:ext cx="1645920" cy="41148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>
                <a:solidFill>
                  <a:srgbClr val="1F2933"/>
                </a:solidFill>
                <a:latin typeface="Segoe UI"/>
              </a:rPr>
              <a:t>GHCR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51775" y="2286000"/>
            <a:ext cx="1645920" cy="502919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3E4C59"/>
                </a:solidFill>
                <a:latin typeface="Segoe UI"/>
              </a:rPr>
              <a:t>images by commit SHA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89136" y="2057400"/>
            <a:ext cx="365760" cy="4572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2400" b="0">
                <a:solidFill>
                  <a:srgbClr val="7B8794"/>
                </a:solidFill>
                <a:latin typeface="Segoe UI"/>
              </a:rP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436608" y="1737360"/>
            <a:ext cx="1828800" cy="1097280"/>
          </a:xfrm>
          <a:prstGeom prst="roundRect">
            <a:avLst>
              <a:gd name="adj" fmla="val 12000"/>
            </a:avLst>
          </a:prstGeom>
          <a:solidFill>
            <a:srgbClr val="E8EF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528048" y="1874519"/>
            <a:ext cx="1645920" cy="41148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>
                <a:solidFill>
                  <a:srgbClr val="1F2933"/>
                </a:solidFill>
                <a:latin typeface="Segoe UI"/>
              </a:rPr>
              <a:t>Argo CD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28048" y="2286000"/>
            <a:ext cx="1645920" cy="502919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3E4C59"/>
                </a:solidFill>
                <a:latin typeface="Segoe UI"/>
              </a:rPr>
              <a:t>syncs from Git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19488" y="2880360"/>
            <a:ext cx="365760" cy="4572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2400" b="0">
                <a:solidFill>
                  <a:srgbClr val="7B8794"/>
                </a:solidFill>
                <a:latin typeface="Segoe UI"/>
              </a:rPr>
              <a:t>↓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31520" y="3383280"/>
            <a:ext cx="10698480" cy="1828800"/>
          </a:xfrm>
          <a:prstGeom prst="roundRect">
            <a:avLst>
              <a:gd name="adj" fmla="val 6000"/>
            </a:avLst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60120" y="3474720"/>
            <a:ext cx="5486400" cy="3657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7B8794"/>
                </a:solidFill>
                <a:latin typeface="Segoe UI"/>
              </a:rPr>
              <a:t>Kubernetes cluster  (namespace expense-tracker)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60120" y="3931920"/>
            <a:ext cx="2011680" cy="10515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51560" y="4069080"/>
            <a:ext cx="1828800" cy="41148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>
                <a:solidFill>
                  <a:srgbClr val="1F2933"/>
                </a:solidFill>
                <a:latin typeface="Segoe UI"/>
              </a:rPr>
              <a:t>Ingress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1560" y="4480559"/>
            <a:ext cx="1828800" cy="457199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3E4C59"/>
                </a:solidFill>
                <a:latin typeface="Segoe UI"/>
              </a:rPr>
              <a:t>/ and /api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971800" y="4206240"/>
            <a:ext cx="365760" cy="4572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2400" b="0">
                <a:solidFill>
                  <a:srgbClr val="7B8794"/>
                </a:solidFill>
                <a:latin typeface="Segoe UI"/>
              </a:rPr>
              <a:t>→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337560" y="3931920"/>
            <a:ext cx="2011680" cy="10515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429000" y="4069080"/>
            <a:ext cx="1828800" cy="41148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>
                <a:solidFill>
                  <a:srgbClr val="1F2933"/>
                </a:solidFill>
                <a:latin typeface="Segoe UI"/>
              </a:rPr>
              <a:t>Frontend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429000" y="4480559"/>
            <a:ext cx="1828800" cy="457199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3E4C59"/>
                </a:solidFill>
                <a:latin typeface="Segoe UI"/>
              </a:rPr>
              <a:t>React + nginx, 2 pods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349240" y="4206240"/>
            <a:ext cx="365760" cy="4572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2400" b="0">
                <a:solidFill>
                  <a:srgbClr val="7B8794"/>
                </a:solidFill>
                <a:latin typeface="Segoe UI"/>
              </a:rPr>
              <a:t>→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715000" y="3931920"/>
            <a:ext cx="2011680" cy="10515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806440" y="4069080"/>
            <a:ext cx="1828800" cy="41148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>
                <a:solidFill>
                  <a:srgbClr val="1F2933"/>
                </a:solidFill>
                <a:latin typeface="Segoe UI"/>
              </a:rPr>
              <a:t>Backend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806440" y="4480559"/>
            <a:ext cx="1828800" cy="457199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3E4C59"/>
                </a:solidFill>
                <a:latin typeface="Segoe UI"/>
              </a:rPr>
              <a:t>FastAPI, 2 pods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26679" y="4206240"/>
            <a:ext cx="365760" cy="4572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2400" b="0">
                <a:solidFill>
                  <a:srgbClr val="7B8794"/>
                </a:solidFill>
                <a:latin typeface="Segoe UI"/>
              </a:rPr>
              <a:t>→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092440" y="3931920"/>
            <a:ext cx="2011680" cy="10515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183880" y="4069080"/>
            <a:ext cx="1828800" cy="41148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>
                <a:solidFill>
                  <a:srgbClr val="1F2933"/>
                </a:solidFill>
                <a:latin typeface="Segoe UI"/>
              </a:rPr>
              <a:t>PostgreSQL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183880" y="4480559"/>
            <a:ext cx="1828800" cy="457199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3E4C59"/>
                </a:solidFill>
                <a:latin typeface="Segoe UI"/>
              </a:rPr>
              <a:t>database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31520" y="5440680"/>
            <a:ext cx="1069848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E4C59"/>
                </a:solidFill>
                <a:latin typeface="Segoe UI"/>
              </a:rPr>
              <a:t>Prometheus scrapes backend /metrics, Grafana shows the dashboard.   Terraform creates the AWS VPC and EKS cluster.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777240"/>
            <a:ext cx="1051560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1F2933"/>
                </a:solidFill>
                <a:latin typeface="Segoe UI"/>
              </a:rPr>
              <a:t>CI/CD Pipeline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91640"/>
            <a:ext cx="10515600" cy="4572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3E4C59"/>
                </a:solidFill>
                <a:latin typeface="Segoe UI"/>
              </a:rPr>
              <a:t>GitHub Actions runs on every push to main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377440"/>
            <a:ext cx="1508760" cy="1143000"/>
          </a:xfrm>
          <a:prstGeom prst="roundRect">
            <a:avLst>
              <a:gd name="adj" fmla="val 12000"/>
            </a:avLst>
          </a:prstGeom>
          <a:solidFill>
            <a:srgbClr val="E8EF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514600"/>
            <a:ext cx="1325880" cy="41148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>
                <a:solidFill>
                  <a:srgbClr val="1F2933"/>
                </a:solidFill>
                <a:latin typeface="Segoe UI"/>
              </a:rPr>
              <a:t>Test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926080"/>
            <a:ext cx="1325880" cy="5486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3E4C59"/>
                </a:solidFill>
                <a:latin typeface="Segoe UI"/>
              </a:rPr>
              <a:t>pytest, 7 tests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40280" y="2697480"/>
            <a:ext cx="365760" cy="4572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2400" b="0">
                <a:solidFill>
                  <a:srgbClr val="7B8794"/>
                </a:solidFill>
                <a:latin typeface="Segoe UI"/>
              </a:rPr>
              <a:t>→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551176" y="2377440"/>
            <a:ext cx="1508760" cy="1143000"/>
          </a:xfrm>
          <a:prstGeom prst="roundRect">
            <a:avLst>
              <a:gd name="adj" fmla="val 12000"/>
            </a:avLst>
          </a:prstGeom>
          <a:solidFill>
            <a:srgbClr val="E8EF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642616" y="2514600"/>
            <a:ext cx="1325880" cy="41148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>
                <a:solidFill>
                  <a:srgbClr val="1F2933"/>
                </a:solidFill>
                <a:latin typeface="Segoe UI"/>
              </a:rPr>
              <a:t>Build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42616" y="2926080"/>
            <a:ext cx="1325880" cy="5486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3E4C59"/>
                </a:solidFill>
                <a:latin typeface="Segoe UI"/>
              </a:rPr>
              <a:t>app + images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59935" y="2697480"/>
            <a:ext cx="365760" cy="4572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2400" b="0">
                <a:solidFill>
                  <a:srgbClr val="7B8794"/>
                </a:solidFill>
                <a:latin typeface="Segoe UI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70832" y="2377440"/>
            <a:ext cx="1508760" cy="1143000"/>
          </a:xfrm>
          <a:prstGeom prst="roundRect">
            <a:avLst>
              <a:gd name="adj" fmla="val 12000"/>
            </a:avLst>
          </a:prstGeom>
          <a:solidFill>
            <a:srgbClr val="E8EF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62272" y="2514600"/>
            <a:ext cx="1325880" cy="41148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>
                <a:solidFill>
                  <a:srgbClr val="1F2933"/>
                </a:solidFill>
                <a:latin typeface="Segoe UI"/>
              </a:rPr>
              <a:t>Scan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62272" y="2926080"/>
            <a:ext cx="1325880" cy="5486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3E4C59"/>
                </a:solidFill>
                <a:latin typeface="Segoe UI"/>
              </a:rPr>
              <a:t>Trivy, both images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79592" y="2697480"/>
            <a:ext cx="365760" cy="4572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2400" b="0">
                <a:solidFill>
                  <a:srgbClr val="7B8794"/>
                </a:solidFill>
                <a:latin typeface="Segoe UI"/>
              </a:rP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90488" y="2377440"/>
            <a:ext cx="1508760" cy="1143000"/>
          </a:xfrm>
          <a:prstGeom prst="roundRect">
            <a:avLst>
              <a:gd name="adj" fmla="val 12000"/>
            </a:avLst>
          </a:prstGeom>
          <a:solidFill>
            <a:srgbClr val="E8EF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81927" y="2514600"/>
            <a:ext cx="1325880" cy="41148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>
                <a:solidFill>
                  <a:srgbClr val="1F2933"/>
                </a:solidFill>
                <a:latin typeface="Segoe UI"/>
              </a:rPr>
              <a:t>Push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81927" y="2926080"/>
            <a:ext cx="1325880" cy="5486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3E4C59"/>
                </a:solidFill>
                <a:latin typeface="Segoe UI"/>
              </a:rPr>
              <a:t>GHCR, tag = SHA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99248" y="2697480"/>
            <a:ext cx="365760" cy="4572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2400" b="0">
                <a:solidFill>
                  <a:srgbClr val="7B8794"/>
                </a:solidFill>
                <a:latin typeface="Segoe UI"/>
              </a:rP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10144" y="2377440"/>
            <a:ext cx="1508760" cy="1143000"/>
          </a:xfrm>
          <a:prstGeom prst="roundRect">
            <a:avLst>
              <a:gd name="adj" fmla="val 12000"/>
            </a:avLst>
          </a:prstGeom>
          <a:solidFill>
            <a:srgbClr val="E8EF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101583" y="2514600"/>
            <a:ext cx="1325880" cy="41148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>
                <a:solidFill>
                  <a:srgbClr val="1F2933"/>
                </a:solidFill>
                <a:latin typeface="Segoe UI"/>
              </a:rPr>
              <a:t>Update tag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01583" y="2926080"/>
            <a:ext cx="1325880" cy="5486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3E4C59"/>
                </a:solidFill>
                <a:latin typeface="Segoe UI"/>
              </a:rPr>
              <a:t>Helm values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518904" y="2697480"/>
            <a:ext cx="365760" cy="4572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2400" b="0">
                <a:solidFill>
                  <a:srgbClr val="7B8794"/>
                </a:solidFill>
                <a:latin typeface="Segoe UI"/>
              </a:rPr>
              <a:t>→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829800" y="2377440"/>
            <a:ext cx="1508760" cy="1143000"/>
          </a:xfrm>
          <a:prstGeom prst="roundRect">
            <a:avLst>
              <a:gd name="adj" fmla="val 12000"/>
            </a:avLst>
          </a:prstGeom>
          <a:solidFill>
            <a:srgbClr val="E8EF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921240" y="2514600"/>
            <a:ext cx="1325880" cy="41148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>
                <a:solidFill>
                  <a:srgbClr val="1F2933"/>
                </a:solidFill>
                <a:latin typeface="Segoe UI"/>
              </a:rPr>
              <a:t>Deploy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921240" y="2926080"/>
            <a:ext cx="1325880" cy="5486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3E4C59"/>
                </a:solidFill>
                <a:latin typeface="Segoe UI"/>
              </a:rPr>
              <a:t>Argo CD sync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31520" y="3931920"/>
            <a:ext cx="5120640" cy="1828800"/>
          </a:xfrm>
          <a:prstGeom prst="roundRect">
            <a:avLst>
              <a:gd name="adj" fmla="val 8000"/>
            </a:avLst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60120" y="4114800"/>
            <a:ext cx="4663440" cy="4572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2563EB"/>
                </a:solidFill>
                <a:latin typeface="Segoe UI"/>
              </a:rPr>
              <a:t>Quality gates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0120" y="4572000"/>
            <a:ext cx="4663440" cy="109728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3E4C59"/>
                </a:solidFill>
                <a:latin typeface="Segoe UI"/>
              </a:rPr>
              <a:t>A failing test stops the pipeline.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3E4C59"/>
                </a:solidFill>
                <a:latin typeface="Segoe UI"/>
              </a:rPr>
              <a:t>A HIGH or CRITICAL vulnerability stops the pipeline.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3E4C59"/>
                </a:solidFill>
                <a:latin typeface="Segoe UI"/>
              </a:rPr>
              <a:t>Nothing broken or vulnerable is pushed.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309360" y="3931920"/>
            <a:ext cx="5120640" cy="1828800"/>
          </a:xfrm>
          <a:prstGeom prst="roundRect">
            <a:avLst>
              <a:gd name="adj" fmla="val 8000"/>
            </a:avLst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37960" y="4114800"/>
            <a:ext cx="4663440" cy="4572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2563EB"/>
                </a:solidFill>
                <a:latin typeface="Segoe UI"/>
              </a:rPr>
              <a:t>Why tag by commit SHA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37960" y="4572000"/>
            <a:ext cx="4663440" cy="109728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3E4C59"/>
                </a:solidFill>
                <a:latin typeface="Segoe UI"/>
              </a:rPr>
              <a:t>Every image points to the exact code it came from.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3E4C59"/>
                </a:solidFill>
                <a:latin typeface="Segoe UI"/>
              </a:rPr>
              <a:t>Easy to see what is running and to roll back.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777240"/>
            <a:ext cx="1051560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1F2933"/>
                </a:solidFill>
                <a:latin typeface="Segoe UI"/>
              </a:rPr>
              <a:t>DevSecOps: Trivy Scan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91640"/>
            <a:ext cx="10515600" cy="8229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3E4C59"/>
                </a:solidFill>
                <a:latin typeface="Segoe UI"/>
              </a:rPr>
              <a:t>Trivy scans the OS packages and libraries in both images. The job fails on HIGH or CRITICAL issues that have a fix.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651760"/>
            <a:ext cx="5120640" cy="2651760"/>
          </a:xfrm>
          <a:prstGeom prst="roundRect">
            <a:avLst>
              <a:gd name="adj" fmla="val 8000"/>
            </a:avLst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2834640"/>
            <a:ext cx="4663440" cy="4572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2563EB"/>
                </a:solidFill>
                <a:latin typeface="Segoe UI"/>
              </a:rPr>
              <a:t>Found while building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" y="3291839"/>
            <a:ext cx="4663440" cy="1920239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E4C59"/>
                </a:solidFill>
                <a:latin typeface="Segoe UI"/>
              </a:rPr>
              <a:t>Backend: starlette 0.41.3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3E4C59"/>
                </a:solidFill>
                <a:latin typeface="Segoe UI"/>
              </a:rPr>
              <a:t>CVE-2025-62727 (HIGH): denial of service through many overlapping Range headers.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3E4C59"/>
                </a:solidFill>
                <a:latin typeface="Segoe UI"/>
              </a:rPr>
              <a:t>Frontend: nginx 1.27 alpine base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3E4C59"/>
                </a:solidFill>
                <a:latin typeface="Segoe UI"/>
              </a:rPr>
              <a:t>CVE-2026-31789 (CRITICAL): OpenSSL heap buffer overflow, plus 40 more.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60" y="2651760"/>
            <a:ext cx="5120640" cy="2651760"/>
          </a:xfrm>
          <a:prstGeom prst="roundRect">
            <a:avLst>
              <a:gd name="adj" fmla="val 8000"/>
            </a:avLst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37960" y="2834640"/>
            <a:ext cx="4663440" cy="4572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2563EB"/>
                </a:solidFill>
                <a:latin typeface="Segoe UI"/>
              </a:rPr>
              <a:t>Fixed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37960" y="3291839"/>
            <a:ext cx="4663440" cy="1920239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E4C59"/>
                </a:solidFill>
                <a:latin typeface="Segoe UI"/>
              </a:rPr>
              <a:t>Upgraded FastAPI to 0.143.0 and the Prometheus instrumentator to 8.1.0, so Starlette moved to 1.8.0.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3E4C59"/>
                </a:solidFill>
                <a:latin typeface="Segoe UI"/>
              </a:rPr>
              <a:t>Moved the frontend base image to nginx 1.30 alpine.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3E4C59"/>
                </a:solidFill>
                <a:latin typeface="Segoe UI"/>
              </a:rPr>
              <a:t>Result: both images scan clean and the pipeline passes.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777240"/>
            <a:ext cx="1051560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1F2933"/>
                </a:solidFill>
                <a:latin typeface="Segoe UI"/>
              </a:rPr>
              <a:t>Infrastructure with Terraform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737360"/>
            <a:ext cx="5120640" cy="3383280"/>
          </a:xfrm>
          <a:prstGeom prst="roundRect">
            <a:avLst>
              <a:gd name="adj" fmla="val 8000"/>
            </a:avLst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1920240"/>
            <a:ext cx="4663440" cy="4572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2563EB"/>
                </a:solidFill>
                <a:latin typeface="Segoe UI"/>
              </a:rPr>
              <a:t>What Terraform creates on AWS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2377439"/>
            <a:ext cx="4663440" cy="26517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3E4C59"/>
                </a:solidFill>
                <a:latin typeface="Segoe UI"/>
              </a:rPr>
              <a:t>Region ap-south-1 (Mumbai)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3E4C59"/>
                </a:solidFill>
                <a:latin typeface="Segoe UI"/>
              </a:rPr>
              <a:t>VPC 10.30.0.0/16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3E4C59"/>
                </a:solidFill>
                <a:latin typeface="Segoe UI"/>
              </a:rPr>
              <a:t>2 public subnets in 2 availability zones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3E4C59"/>
                </a:solidFill>
                <a:latin typeface="Segoe UI"/>
              </a:rPr>
              <a:t>EKS cluster, Kubernetes 1.31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3E4C59"/>
                </a:solidFill>
                <a:latin typeface="Segoe UI"/>
              </a:rPr>
              <a:t>Managed node group, t3.small workers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3E4C59"/>
                </a:solidFill>
                <a:latin typeface="Segoe UI"/>
              </a:rPr>
              <a:t>46 resources in total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09360" y="1737360"/>
            <a:ext cx="5120640" cy="3383280"/>
          </a:xfrm>
          <a:prstGeom prst="roundRect">
            <a:avLst>
              <a:gd name="adj" fmla="val 8000"/>
            </a:avLst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37960" y="1920240"/>
            <a:ext cx="4663440" cy="4572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2563EB"/>
                </a:solidFill>
                <a:latin typeface="Segoe UI"/>
              </a:rPr>
              <a:t>Workflow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37960" y="2377439"/>
            <a:ext cx="4663440" cy="26517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3E4C59"/>
                </a:solidFill>
                <a:latin typeface="Segoe UI"/>
              </a:rPr>
              <a:t>terraform init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3E4C59"/>
                </a:solidFill>
                <a:latin typeface="Segoe UI"/>
              </a:rPr>
              <a:t>terraform plan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3E4C59"/>
                </a:solidFill>
                <a:latin typeface="Segoe UI"/>
              </a:rPr>
              <a:t>terraform apply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3E4C59"/>
                </a:solidFill>
                <a:latin typeface="Segoe UI"/>
              </a:rPr>
              <a:t>aws eks update-kubeconfig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3E4C59"/>
                </a:solidFill>
                <a:latin typeface="Segoe UI"/>
              </a:rPr>
              <a:t>terraform destroy after the demo to avoid cost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3E4C59"/>
                </a:solidFill>
                <a:latin typeface="Segoe UI"/>
              </a:rPr>
              <a:t/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3E4C59"/>
                </a:solidFill>
                <a:latin typeface="Segoe UI"/>
              </a:rPr>
              <a:t>No credentials in the repo, only terraform.tfvars.example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777240"/>
            <a:ext cx="1051560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1F2933"/>
                </a:solidFill>
                <a:latin typeface="Segoe UI"/>
              </a:rPr>
              <a:t>Kubernetes, Helm and GitOps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737360"/>
            <a:ext cx="3383280" cy="2926080"/>
          </a:xfrm>
          <a:prstGeom prst="roundRect">
            <a:avLst>
              <a:gd name="adj" fmla="val 8000"/>
            </a:avLst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1920240"/>
            <a:ext cx="2926080" cy="4572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2563EB"/>
                </a:solidFill>
                <a:latin typeface="Segoe UI"/>
              </a:rPr>
              <a:t>Helm chart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2377439"/>
            <a:ext cx="2926080" cy="21945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E4C59"/>
                </a:solidFill>
                <a:latin typeface="Segoe UI"/>
              </a:rPr>
              <a:t>Backend: 2 replicas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3E4C59"/>
                </a:solidFill>
                <a:latin typeface="Segoe UI"/>
              </a:rPr>
              <a:t>Frontend: 2 replicas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3E4C59"/>
                </a:solidFill>
                <a:latin typeface="Segoe UI"/>
              </a:rPr>
              <a:t>PostgreSQL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3E4C59"/>
                </a:solidFill>
                <a:latin typeface="Segoe UI"/>
              </a:rPr>
              <a:t>ClusterIP services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3E4C59"/>
                </a:solidFill>
                <a:latin typeface="Segoe UI"/>
              </a:rPr>
              <a:t>Readiness and liveness probes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1737360"/>
            <a:ext cx="3383280" cy="2926080"/>
          </a:xfrm>
          <a:prstGeom prst="roundRect">
            <a:avLst>
              <a:gd name="adj" fmla="val 8000"/>
            </a:avLst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617720" y="1920240"/>
            <a:ext cx="2926080" cy="4572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2563EB"/>
                </a:solidFill>
                <a:latin typeface="Segoe UI"/>
              </a:rPr>
              <a:t>Ingress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17720" y="2377439"/>
            <a:ext cx="2926080" cy="21945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E4C59"/>
                </a:solidFill>
                <a:latin typeface="Segoe UI"/>
              </a:rPr>
              <a:t>/  goes to the frontend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3E4C59"/>
                </a:solidFill>
                <a:latin typeface="Segoe UI"/>
              </a:rPr>
              <a:t>/api  goes to the backend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3E4C59"/>
                </a:solidFill>
                <a:latin typeface="Segoe UI"/>
              </a:rPr>
              <a:t/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3E4C59"/>
                </a:solidFill>
                <a:latin typeface="Segoe UI"/>
              </a:rPr>
              <a:t>Deployed with: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3E4C59"/>
                </a:solidFill>
                <a:latin typeface="Segoe UI"/>
              </a:rPr>
              <a:t>helm upgrade --install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1737360"/>
            <a:ext cx="3383280" cy="2926080"/>
          </a:xfrm>
          <a:prstGeom prst="roundRect">
            <a:avLst>
              <a:gd name="adj" fmla="val 8000"/>
            </a:avLst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75320" y="1920240"/>
            <a:ext cx="2926080" cy="4572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2563EB"/>
                </a:solidFill>
                <a:latin typeface="Segoe UI"/>
              </a:rPr>
              <a:t>Argo CD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75320" y="2377439"/>
            <a:ext cx="2926080" cy="21945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E4C59"/>
                </a:solidFill>
                <a:latin typeface="Segoe UI"/>
              </a:rPr>
              <a:t>Watches the Helm chart in GitHub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3E4C59"/>
                </a:solidFill>
                <a:latin typeface="Segoe UI"/>
              </a:rPr>
              <a:t>Auto sync and self heal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3E4C59"/>
                </a:solidFill>
                <a:latin typeface="Segoe UI"/>
              </a:rPr>
              <a:t>The pipeline updates the image tag in Git, Argo CD deploys it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3E4C59"/>
                </a:solidFill>
                <a:latin typeface="Segoe UI"/>
              </a:rPr>
              <a:t>Git is the single source of truth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777240"/>
            <a:ext cx="1051560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1F2933"/>
                </a:solidFill>
                <a:latin typeface="Segoe UI"/>
              </a:rPr>
              <a:t>Observability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737360"/>
            <a:ext cx="2468880" cy="1188720"/>
          </a:xfrm>
          <a:prstGeom prst="roundRect">
            <a:avLst>
              <a:gd name="adj" fmla="val 12000"/>
            </a:avLst>
          </a:prstGeom>
          <a:solidFill>
            <a:srgbClr val="E8EF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874519"/>
            <a:ext cx="2286000" cy="41148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>
                <a:solidFill>
                  <a:srgbClr val="1F2933"/>
                </a:solidFill>
                <a:latin typeface="Segoe UI"/>
              </a:rPr>
              <a:t>Backend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286000"/>
            <a:ext cx="2286000" cy="5943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3E4C59"/>
                </a:solidFill>
                <a:latin typeface="Segoe UI"/>
              </a:rPr>
              <a:t>/metrics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0" y="2103120"/>
            <a:ext cx="365760" cy="4572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2400" b="0">
                <a:solidFill>
                  <a:srgbClr val="7B8794"/>
                </a:solidFill>
                <a:latin typeface="Segoe UI"/>
              </a:rPr>
              <a:t>→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74720" y="1737360"/>
            <a:ext cx="2468880" cy="1188720"/>
          </a:xfrm>
          <a:prstGeom prst="roundRect">
            <a:avLst>
              <a:gd name="adj" fmla="val 12000"/>
            </a:avLst>
          </a:prstGeom>
          <a:solidFill>
            <a:srgbClr val="E8EF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566160" y="1874519"/>
            <a:ext cx="2286000" cy="41148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>
                <a:solidFill>
                  <a:srgbClr val="1F2933"/>
                </a:solidFill>
                <a:latin typeface="Segoe UI"/>
              </a:rPr>
              <a:t>ServiceMonitor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66160" y="2286000"/>
            <a:ext cx="2286000" cy="5943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3E4C59"/>
                </a:solidFill>
                <a:latin typeface="Segoe UI"/>
              </a:rPr>
              <a:t>tells Prometheus what to scrape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0" y="2103120"/>
            <a:ext cx="365760" cy="4572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2400" b="0">
                <a:solidFill>
                  <a:srgbClr val="7B8794"/>
                </a:solidFill>
                <a:latin typeface="Segoe UI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737360"/>
            <a:ext cx="2468880" cy="1188720"/>
          </a:xfrm>
          <a:prstGeom prst="roundRect">
            <a:avLst>
              <a:gd name="adj" fmla="val 12000"/>
            </a:avLst>
          </a:prstGeom>
          <a:solidFill>
            <a:srgbClr val="E8EF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09359" y="1874519"/>
            <a:ext cx="2286000" cy="41148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>
                <a:solidFill>
                  <a:srgbClr val="1F2933"/>
                </a:solidFill>
                <a:latin typeface="Segoe UI"/>
              </a:rPr>
              <a:t>Prometheus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09359" y="2286000"/>
            <a:ext cx="2286000" cy="5943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3E4C59"/>
                </a:solidFill>
                <a:latin typeface="Segoe UI"/>
              </a:rPr>
              <a:t>collects every 15s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0" y="2103120"/>
            <a:ext cx="365760" cy="4572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2400" b="0">
                <a:solidFill>
                  <a:srgbClr val="7B8794"/>
                </a:solidFill>
                <a:latin typeface="Segoe UI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61120" y="1737360"/>
            <a:ext cx="2468880" cy="1188720"/>
          </a:xfrm>
          <a:prstGeom prst="roundRect">
            <a:avLst>
              <a:gd name="adj" fmla="val 12000"/>
            </a:avLst>
          </a:prstGeom>
          <a:solidFill>
            <a:srgbClr val="E8EF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52560" y="1874519"/>
            <a:ext cx="2286000" cy="41148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>
                <a:solidFill>
                  <a:srgbClr val="1F2933"/>
                </a:solidFill>
                <a:latin typeface="Segoe UI"/>
              </a:rPr>
              <a:t>Grafana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52560" y="2286000"/>
            <a:ext cx="2286000" cy="5943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3E4C59"/>
                </a:solidFill>
                <a:latin typeface="Segoe UI"/>
              </a:rPr>
              <a:t>dashboard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3291840"/>
            <a:ext cx="10698480" cy="2286000"/>
          </a:xfrm>
          <a:prstGeom prst="roundRect">
            <a:avLst>
              <a:gd name="adj" fmla="val 8000"/>
            </a:avLst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3474720"/>
            <a:ext cx="10241280" cy="4572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2563EB"/>
                </a:solidFill>
                <a:latin typeface="Segoe UI"/>
              </a:rPr>
              <a:t>Expense Tracker dashboard in Grafana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" y="3931920"/>
            <a:ext cx="10241280" cy="155448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3E4C59"/>
                </a:solidFill>
                <a:latin typeface="Segoe UI"/>
              </a:rPr>
              <a:t>Requests per second for each endpoint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3E4C59"/>
                </a:solidFill>
                <a:latin typeface="Segoe UI"/>
              </a:rPr>
              <a:t>p95 latency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3E4C59"/>
                </a:solidFill>
                <a:latin typeface="Segoe UI"/>
              </a:rPr>
              <a:t>Error rate (5xx responses)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3E4C59"/>
                </a:solidFill>
                <a:latin typeface="Segoe UI"/>
              </a:rPr>
              <a:t>Number of backend targets up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777240"/>
            <a:ext cx="1051560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1F2933"/>
                </a:solidFill>
                <a:latin typeface="Segoe UI"/>
              </a:rPr>
              <a:t>Key Learnings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737360"/>
            <a:ext cx="5212080" cy="1600200"/>
          </a:xfrm>
          <a:prstGeom prst="roundRect">
            <a:avLst>
              <a:gd name="adj" fmla="val 8000"/>
            </a:avLst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1920240"/>
            <a:ext cx="4754880" cy="4572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2563EB"/>
                </a:solidFill>
                <a:latin typeface="Segoe UI"/>
              </a:rPr>
              <a:t>Gates save time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2377439"/>
            <a:ext cx="4754880" cy="86868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3E4C59"/>
                </a:solidFill>
                <a:latin typeface="Segoe UI"/>
              </a:rPr>
              <a:t>Tests and Trivy scans in the pipeline catch problems before anything is deployed.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737360"/>
            <a:ext cx="5212080" cy="1600200"/>
          </a:xfrm>
          <a:prstGeom prst="roundRect">
            <a:avLst>
              <a:gd name="adj" fmla="val 8000"/>
            </a:avLst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46520" y="1920240"/>
            <a:ext cx="4754880" cy="4572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2563EB"/>
                </a:solidFill>
                <a:latin typeface="Segoe UI"/>
              </a:rPr>
              <a:t>Images by commit SHA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46520" y="2377439"/>
            <a:ext cx="4754880" cy="86868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3E4C59"/>
                </a:solidFill>
                <a:latin typeface="Segoe UI"/>
              </a:rPr>
              <a:t>Each deployed image maps to exact code, which makes debugging and rollbacks simple.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566160"/>
            <a:ext cx="5212080" cy="1600200"/>
          </a:xfrm>
          <a:prstGeom prst="roundRect">
            <a:avLst>
              <a:gd name="adj" fmla="val 8000"/>
            </a:avLst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3749039"/>
            <a:ext cx="4754880" cy="4572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2563EB"/>
                </a:solidFill>
                <a:latin typeface="Segoe UI"/>
              </a:rPr>
              <a:t>GitOps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4206240"/>
            <a:ext cx="4754880" cy="86868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3E4C59"/>
                </a:solidFill>
                <a:latin typeface="Segoe UI"/>
              </a:rPr>
              <a:t>With Argo CD, Git decides what runs. A push is enough to deploy.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3566160"/>
            <a:ext cx="5212080" cy="1600200"/>
          </a:xfrm>
          <a:prstGeom prst="roundRect">
            <a:avLst>
              <a:gd name="adj" fmla="val 8000"/>
            </a:avLst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46520" y="3749039"/>
            <a:ext cx="4754880" cy="4572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2563EB"/>
                </a:solidFill>
                <a:latin typeface="Segoe UI"/>
              </a:rPr>
              <a:t>Real bug found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46520" y="4206240"/>
            <a:ext cx="4754880" cy="86868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3E4C59"/>
                </a:solidFill>
                <a:latin typeface="Segoe UI"/>
              </a:rPr>
              <a:t>Two backend pods ran database migrations at the same time. A PostgreSQL advisory lock fixed it.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